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Waffle Soft" charset="1" panose="02000503000000020004"/>
      <p:regular r:id="rId19"/>
    </p:embeddedFont>
    <p:embeddedFont>
      <p:font typeface="Garet Bold" charset="1" panose="00000000000000000000"/>
      <p:regular r:id="rId20"/>
    </p:embeddedFont>
    <p:embeddedFont>
      <p:font typeface="Garet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71777" y="4935531"/>
            <a:ext cx="5706966" cy="5613579"/>
          </a:xfrm>
          <a:custGeom>
            <a:avLst/>
            <a:gdLst/>
            <a:ahLst/>
            <a:cxnLst/>
            <a:rect r="r" b="b" t="t" l="l"/>
            <a:pathLst>
              <a:path h="5613579" w="5706966">
                <a:moveTo>
                  <a:pt x="0" y="0"/>
                </a:moveTo>
                <a:lnTo>
                  <a:pt x="5706966" y="0"/>
                </a:lnTo>
                <a:lnTo>
                  <a:pt x="5706966" y="5613580"/>
                </a:lnTo>
                <a:lnTo>
                  <a:pt x="0" y="5613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9269" y="6812692"/>
            <a:ext cx="10816561" cy="8229600"/>
          </a:xfrm>
          <a:custGeom>
            <a:avLst/>
            <a:gdLst/>
            <a:ahLst/>
            <a:cxnLst/>
            <a:rect r="r" b="b" t="t" l="l"/>
            <a:pathLst>
              <a:path h="8229600" w="10816561">
                <a:moveTo>
                  <a:pt x="0" y="0"/>
                </a:moveTo>
                <a:lnTo>
                  <a:pt x="10816561" y="0"/>
                </a:lnTo>
                <a:lnTo>
                  <a:pt x="1081656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461504" y="2926292"/>
            <a:ext cx="9190805" cy="8229600"/>
          </a:xfrm>
          <a:custGeom>
            <a:avLst/>
            <a:gdLst/>
            <a:ahLst/>
            <a:cxnLst/>
            <a:rect r="r" b="b" t="t" l="l"/>
            <a:pathLst>
              <a:path h="8229600" w="9190805">
                <a:moveTo>
                  <a:pt x="0" y="0"/>
                </a:moveTo>
                <a:lnTo>
                  <a:pt x="9190805" y="0"/>
                </a:lnTo>
                <a:lnTo>
                  <a:pt x="91908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54186" y="2272059"/>
            <a:ext cx="11482787" cy="334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7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Impact of social comparison nudges on peak  Electricity Use in Kenya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75830" y="-44099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7680" y="242724"/>
            <a:ext cx="3953055" cy="4511333"/>
          </a:xfrm>
          <a:custGeom>
            <a:avLst/>
            <a:gdLst/>
            <a:ahLst/>
            <a:cxnLst/>
            <a:rect r="r" b="b" t="t" l="l"/>
            <a:pathLst>
              <a:path h="4511333" w="3953055">
                <a:moveTo>
                  <a:pt x="0" y="0"/>
                </a:moveTo>
                <a:lnTo>
                  <a:pt x="3953055" y="0"/>
                </a:lnTo>
                <a:lnTo>
                  <a:pt x="3953055" y="4511332"/>
                </a:lnTo>
                <a:lnTo>
                  <a:pt x="0" y="4511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5437806" y="2096715"/>
            <a:ext cx="5108668" cy="4114800"/>
          </a:xfrm>
          <a:custGeom>
            <a:avLst/>
            <a:gdLst/>
            <a:ahLst/>
            <a:cxnLst/>
            <a:rect r="r" b="b" t="t" l="l"/>
            <a:pathLst>
              <a:path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33484">
            <a:off x="6331232" y="-673699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14099" y="6227340"/>
            <a:ext cx="8829398" cy="9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true" sz="1900" spc="2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Difference-in Difference Panel analayis Experimental study (1000 households, 6 months)</a:t>
            </a:r>
          </a:p>
          <a:p>
            <a:pPr algn="l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7092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81798" y="2981598"/>
            <a:ext cx="11724404" cy="419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1.Introduction</a:t>
            </a: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2.Objectives</a:t>
            </a: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3.Hypothesis</a:t>
            </a: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4.Methodology</a:t>
            </a: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5.Analysis and Insights</a:t>
            </a:r>
          </a:p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Recommendations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71030" y="1435375"/>
            <a:ext cx="6545941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6"/>
              </a:lnSpc>
            </a:pPr>
            <a:r>
              <a:rPr lang="en-US" sz="48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66555" y="2340716"/>
            <a:ext cx="10554890" cy="232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Kenya faces significant electricity demand during peak hours(6pm- 11pm)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Peak demand increases grid stress and generation costs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Demend-side solutions are critical for sustsinable energy management</a:t>
            </a:r>
          </a:p>
          <a:p>
            <a:pPr algn="l">
              <a:lnSpc>
                <a:spcPts val="309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622990" y="6156504"/>
            <a:ext cx="10554890" cy="11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Peak-hour electricity requires expensive backup generation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Infrastructure expansion is capital-intensive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Small behavioral shifts at household level may reduce system strain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4775" y="4961829"/>
            <a:ext cx="6545941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6"/>
              </a:lnSpc>
            </a:pPr>
            <a:r>
              <a:rPr lang="en-US" sz="48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Problem Context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Objectives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66555" y="3039125"/>
            <a:ext cx="10554890" cy="193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Evaluate the impact of social comparison messaging on peak electricity usage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Measure changes in Peak Energy Waste Index(PEWI)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Estimate casual effect using Difference-in-Differences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Quantify economic and system-level implications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166034"/>
            <a:ext cx="1051751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Hypothesis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01610" y="2865099"/>
            <a:ext cx="9406235" cy="388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209" spc="2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Null Hypothesis (H₀):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 is no difference in peak electricity usage between control and treatment groups</a:t>
            </a:r>
          </a:p>
          <a:p>
            <a:pPr algn="l">
              <a:lnSpc>
                <a:spcPts val="3092"/>
              </a:lnSpc>
            </a:pPr>
          </a:p>
          <a:p>
            <a:pPr algn="l">
              <a:lnSpc>
                <a:spcPts val="3092"/>
              </a:lnSpc>
            </a:pPr>
            <a:r>
              <a:rPr lang="en-US" sz="2209" spc="2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Alternative Hypothesis(H₁):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Households receiving social comparison + cost message reduce PEWI more than control households</a:t>
            </a:r>
          </a:p>
          <a:p>
            <a:pPr algn="l">
              <a:lnSpc>
                <a:spcPts val="3092"/>
              </a:lnSpc>
            </a:pPr>
          </a:p>
          <a:p>
            <a:pPr algn="l">
              <a:lnSpc>
                <a:spcPts val="3092"/>
              </a:lnSpc>
            </a:pPr>
            <a:r>
              <a:rPr lang="en-US" sz="2209" spc="2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Expected Direction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Negative treatment effect (β &lt; 0)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Methodology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64248" y="3208890"/>
            <a:ext cx="10554890" cy="193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1000 households(500 control, 500 treatment)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6-month panel dataset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Months 1-2; Baseline period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Months 3-6: Intervention period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Treatment: Social comparison + cost-equivalent messaging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8723" y="2330050"/>
            <a:ext cx="654594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Experimental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73052" y="5626805"/>
            <a:ext cx="654594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Outcome Measurement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29226" y="6300858"/>
            <a:ext cx="10554890" cy="154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Peak Energy Waste Index (PEWI)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PEWI= Peak Kwh/Total Monthly kwh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Measures household contribution to peak demand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Lower PEWI = Reduced grid stress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Methodology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78867" y="3643293"/>
            <a:ext cx="10554890" cy="232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Validated parallel trends (pre-treatment test)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Difference-in-Difference estimation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Two-Way Fixed Effects: Household fixed effects &amp; Month fixed effects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Robust standard errors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888726" y="2725326"/>
            <a:ext cx="913517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4"/>
              </a:lnSpc>
            </a:pPr>
            <a:r>
              <a:rPr lang="en-US" sz="2499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Estimation Strategy(Casual Identification Strategy)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11846" y="2239479"/>
            <a:ext cx="7245402" cy="5644962"/>
          </a:xfrm>
          <a:custGeom>
            <a:avLst/>
            <a:gdLst/>
            <a:ahLst/>
            <a:cxnLst/>
            <a:rect r="r" b="b" t="t" l="l"/>
            <a:pathLst>
              <a:path h="5644962" w="7245402">
                <a:moveTo>
                  <a:pt x="0" y="0"/>
                </a:moveTo>
                <a:lnTo>
                  <a:pt x="7245401" y="0"/>
                </a:lnTo>
                <a:lnTo>
                  <a:pt x="7245401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62589" y="522186"/>
            <a:ext cx="654594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Analysis &amp;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27710" y="2736825"/>
            <a:ext cx="5597618" cy="232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Line Chart showing: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Control PEWI trend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Treatment PEWI trend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Vertical line at Month 3 (Intervention)</a:t>
            </a:r>
          </a:p>
          <a:p>
            <a:pPr algn="l">
              <a:lnSpc>
                <a:spcPts val="309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977946"/>
            <a:ext cx="7814425" cy="11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Parallel trends observed pre-intervention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Clear divergence after Month 3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Treatment group shows sustained decline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62589" y="1739871"/>
            <a:ext cx="6545941" cy="46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5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Behavioral Impact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62589" y="522186"/>
            <a:ext cx="654594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Analysis &amp;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27710" y="3080678"/>
            <a:ext cx="4236517" cy="164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1909" spc="2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Result:</a:t>
            </a:r>
          </a:p>
          <a:p>
            <a:pPr algn="l" marL="412211" indent="-206105" lvl="1">
              <a:lnSpc>
                <a:spcPts val="2672"/>
              </a:lnSpc>
              <a:buFont typeface="Arial"/>
              <a:buChar char="•"/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Treatment * post = -0.0217</a:t>
            </a:r>
          </a:p>
          <a:p>
            <a:pPr algn="l" marL="412211" indent="-206105" lvl="1">
              <a:lnSpc>
                <a:spcPts val="2672"/>
              </a:lnSpc>
              <a:buFont typeface="Arial"/>
              <a:buChar char="•"/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p-value &lt; 0.001</a:t>
            </a:r>
          </a:p>
          <a:p>
            <a:pPr algn="l" marL="412211" indent="-206105" lvl="1">
              <a:lnSpc>
                <a:spcPts val="2672"/>
              </a:lnSpc>
              <a:buFont typeface="Arial"/>
              <a:buChar char="•"/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95% Cl: [-0.025,-0.018]</a:t>
            </a:r>
          </a:p>
          <a:p>
            <a:pPr algn="l">
              <a:lnSpc>
                <a:spcPts val="26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977946"/>
            <a:ext cx="7814425" cy="11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209" spc="2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nterpretation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2.17 percentage point reduction in PEWI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≈ 5.4% relative decline in peak usage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71030" y="1484336"/>
            <a:ext cx="6545941" cy="35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sz="27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Difference-in-Difference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7511" y="2742350"/>
            <a:ext cx="9286073" cy="298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==================================================================================</a:t>
            </a:r>
          </a:p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coef    std err          z      P&gt;|z|      [0.025      0.975]</a:t>
            </a:r>
          </a:p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----------------------------------------------------------------------------------</a:t>
            </a:r>
          </a:p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Intercept          0.4033      0.002    201.435      0.000       0.399       0.407</a:t>
            </a:r>
          </a:p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treatment         -0.0039      0.003     -1.383      0.167      -0.009       0.002</a:t>
            </a:r>
          </a:p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post              -0.0010      0.002     -0.388      0.698      -0.006       0.004</a:t>
            </a:r>
          </a:p>
          <a:p>
            <a:pPr algn="r">
              <a:lnSpc>
                <a:spcPts val="2672"/>
              </a:lnSpc>
              <a:spcBef>
                <a:spcPct val="0"/>
              </a:spcBef>
            </a:pPr>
            <a:r>
              <a:rPr lang="en-US" sz="1909" spc="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treatment:post    -0.0217      0.003     -6.263      0.000      -0.028      -0.015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62589" y="522186"/>
            <a:ext cx="654594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Analysis &amp;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3725" y="2571976"/>
            <a:ext cx="11491428" cy="408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309" spc="2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 Household:</a:t>
            </a:r>
          </a:p>
          <a:p>
            <a:pPr algn="l" marL="498569" indent="-249284" lvl="1">
              <a:lnSpc>
                <a:spcPts val="3232"/>
              </a:lnSpc>
              <a:buFont typeface="Arial"/>
              <a:buChar char="•"/>
            </a:pPr>
            <a:r>
              <a:rPr lang="en-US" b="true" sz="2309" spc="2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≈ 3.25 kWh saved per month</a:t>
            </a:r>
          </a:p>
          <a:p>
            <a:pPr algn="l">
              <a:lnSpc>
                <a:spcPts val="3232"/>
              </a:lnSpc>
            </a:pPr>
            <a:r>
              <a:rPr lang="en-US" sz="2309" spc="2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500 Treated Households:</a:t>
            </a:r>
          </a:p>
          <a:p>
            <a:pPr algn="l" marL="498569" indent="-249284" lvl="1">
              <a:lnSpc>
                <a:spcPts val="3232"/>
              </a:lnSpc>
              <a:buFont typeface="Arial"/>
              <a:buChar char="•"/>
            </a:pPr>
            <a:r>
              <a:rPr lang="en-US" b="true" sz="2309" spc="2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≈ 1,625 kWh sa</a:t>
            </a:r>
            <a:r>
              <a:rPr lang="en-US" b="true" sz="2309" spc="2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ved monthly</a:t>
            </a:r>
          </a:p>
          <a:p>
            <a:pPr algn="l">
              <a:lnSpc>
                <a:spcPts val="3232"/>
              </a:lnSpc>
            </a:pPr>
            <a:r>
              <a:rPr lang="en-US" sz="2309" spc="2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Scaled to 100,000 Households:</a:t>
            </a:r>
          </a:p>
          <a:p>
            <a:pPr algn="l" marL="498569" indent="-249284" lvl="1">
              <a:lnSpc>
                <a:spcPts val="3232"/>
              </a:lnSpc>
              <a:buFont typeface="Arial"/>
              <a:buChar char="•"/>
            </a:pPr>
            <a:r>
              <a:rPr lang="en-US" b="true" sz="2309" spc="2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≈ 0.325 GWh reduction per month</a:t>
            </a:r>
          </a:p>
          <a:p>
            <a:pPr algn="l">
              <a:lnSpc>
                <a:spcPts val="3232"/>
              </a:lnSpc>
            </a:pPr>
            <a:r>
              <a:rPr lang="en-US" sz="2309" spc="2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Estimated Cost Savings (KSh 25/kWh):</a:t>
            </a:r>
          </a:p>
          <a:p>
            <a:pPr algn="l" marL="498569" indent="-249284" lvl="1">
              <a:lnSpc>
                <a:spcPts val="3232"/>
              </a:lnSpc>
              <a:buFont typeface="Arial"/>
              <a:buChar char="•"/>
            </a:pPr>
            <a:r>
              <a:rPr lang="en-US" b="true" sz="2309" spc="2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≈ KSh 81 per household per month</a:t>
            </a:r>
          </a:p>
          <a:p>
            <a:pPr algn="l" marL="498569" indent="-249284" lvl="1">
              <a:lnSpc>
                <a:spcPts val="3232"/>
              </a:lnSpc>
              <a:buFont typeface="Arial"/>
              <a:buChar char="•"/>
            </a:pPr>
            <a:r>
              <a:rPr lang="en-US" b="true" sz="2309" spc="2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≈ KSh 40,625 system savings monthly (500 HH)</a:t>
            </a:r>
          </a:p>
          <a:p>
            <a:pPr algn="l">
              <a:lnSpc>
                <a:spcPts val="323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71030" y="1484336"/>
            <a:ext cx="6545941" cy="35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sz="27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Economic Implications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410483"/>
            <a:ext cx="654594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Recommendations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13781" y="3262221"/>
            <a:ext cx="9131851" cy="306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eploy social comparison + cost messaging at national scale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 peak-hour reminders into existing SMS billing systems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Prioritize high peak-usage households for targeted nudges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Monitor impact through monthly PEWI tracking</a:t>
            </a:r>
          </a:p>
          <a:p>
            <a:pPr algn="l">
              <a:lnSpc>
                <a:spcPts val="309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742442" y="2430354"/>
            <a:ext cx="6674528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sz="30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Policy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410483"/>
            <a:ext cx="654594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Recommendations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19138" y="6654300"/>
            <a:ext cx="3959605" cy="3894811"/>
          </a:xfrm>
          <a:custGeom>
            <a:avLst/>
            <a:gdLst/>
            <a:ahLst/>
            <a:cxnLst/>
            <a:rect r="r" b="b" t="t" l="l"/>
            <a:pathLst>
              <a:path h="3894811" w="3959605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6402" y="6143695"/>
            <a:ext cx="5490204" cy="4916020"/>
          </a:xfrm>
          <a:custGeom>
            <a:avLst/>
            <a:gdLst/>
            <a:ahLst/>
            <a:cxnLst/>
            <a:rect r="r" b="b" t="t" l="l"/>
            <a:pathLst>
              <a:path h="4916020" w="5490204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97922" y="8085591"/>
            <a:ext cx="4621216" cy="3515975"/>
          </a:xfrm>
          <a:custGeom>
            <a:avLst/>
            <a:gdLst/>
            <a:ahLst/>
            <a:cxnLst/>
            <a:rect r="r" b="b" t="t" l="l"/>
            <a:pathLst>
              <a:path h="3515975" w="4621216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33484">
            <a:off x="2124354" y="-514935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2721">
            <a:off x="13676831" y="-428566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4703611" y="951350"/>
            <a:ext cx="6881994" cy="5543134"/>
          </a:xfrm>
          <a:custGeom>
            <a:avLst/>
            <a:gdLst/>
            <a:ahLst/>
            <a:cxnLst/>
            <a:rect r="r" b="b" t="t" l="l"/>
            <a:pathLst>
              <a:path h="5543134" w="688199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56030">
            <a:off x="-2326381" y="931484"/>
            <a:ext cx="6140884" cy="4946203"/>
          </a:xfrm>
          <a:custGeom>
            <a:avLst/>
            <a:gdLst/>
            <a:ahLst/>
            <a:cxnLst/>
            <a:rect r="r" b="b" t="t" l="l"/>
            <a:pathLst>
              <a:path h="4946203" w="6140884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2393">
            <a:off x="2927061" y="88173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13781" y="3647328"/>
            <a:ext cx="9131851" cy="22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ehavioral nudges are a low-cost alternative to infrastructure expansion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Supports demand-side management strategy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Reduces peak stress without capital-intensive investment</a:t>
            </a:r>
          </a:p>
          <a:p>
            <a:pPr algn="l" marL="476979" indent="-238490" lvl="1">
              <a:lnSpc>
                <a:spcPts val="3092"/>
              </a:lnSpc>
              <a:buFont typeface="Arial"/>
              <a:buChar char="•"/>
            </a:pPr>
            <a:r>
              <a:rPr lang="en-US" sz="2209" spc="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Scalable and adaptable across regions</a:t>
            </a:r>
          </a:p>
          <a:p>
            <a:pPr algn="l">
              <a:lnSpc>
                <a:spcPts val="309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742442" y="2165813"/>
            <a:ext cx="6674528" cy="65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2"/>
              </a:lnSpc>
            </a:pPr>
            <a:r>
              <a:rPr lang="en-US" sz="26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Strategic Implications for Energy Management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71777" y="4935531"/>
            <a:ext cx="5706966" cy="5613579"/>
          </a:xfrm>
          <a:custGeom>
            <a:avLst/>
            <a:gdLst/>
            <a:ahLst/>
            <a:cxnLst/>
            <a:rect r="r" b="b" t="t" l="l"/>
            <a:pathLst>
              <a:path h="5613579" w="5706966">
                <a:moveTo>
                  <a:pt x="0" y="0"/>
                </a:moveTo>
                <a:lnTo>
                  <a:pt x="5706966" y="0"/>
                </a:lnTo>
                <a:lnTo>
                  <a:pt x="5706966" y="5613580"/>
                </a:lnTo>
                <a:lnTo>
                  <a:pt x="0" y="5613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9269" y="6812692"/>
            <a:ext cx="10816561" cy="8229600"/>
          </a:xfrm>
          <a:custGeom>
            <a:avLst/>
            <a:gdLst/>
            <a:ahLst/>
            <a:cxnLst/>
            <a:rect r="r" b="b" t="t" l="l"/>
            <a:pathLst>
              <a:path h="8229600" w="10816561">
                <a:moveTo>
                  <a:pt x="0" y="0"/>
                </a:moveTo>
                <a:lnTo>
                  <a:pt x="10816561" y="0"/>
                </a:lnTo>
                <a:lnTo>
                  <a:pt x="1081656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461504" y="2926292"/>
            <a:ext cx="9190805" cy="8229600"/>
          </a:xfrm>
          <a:custGeom>
            <a:avLst/>
            <a:gdLst/>
            <a:ahLst/>
            <a:cxnLst/>
            <a:rect r="r" b="b" t="t" l="l"/>
            <a:pathLst>
              <a:path h="8229600" w="9190805">
                <a:moveTo>
                  <a:pt x="0" y="0"/>
                </a:moveTo>
                <a:lnTo>
                  <a:pt x="9190805" y="0"/>
                </a:lnTo>
                <a:lnTo>
                  <a:pt x="91908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37591" y="3023737"/>
            <a:ext cx="10212818" cy="459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75830" y="-44099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7680" y="242724"/>
            <a:ext cx="3953055" cy="4511333"/>
          </a:xfrm>
          <a:custGeom>
            <a:avLst/>
            <a:gdLst/>
            <a:ahLst/>
            <a:cxnLst/>
            <a:rect r="r" b="b" t="t" l="l"/>
            <a:pathLst>
              <a:path h="4511333" w="3953055">
                <a:moveTo>
                  <a:pt x="0" y="0"/>
                </a:moveTo>
                <a:lnTo>
                  <a:pt x="3953055" y="0"/>
                </a:lnTo>
                <a:lnTo>
                  <a:pt x="3953055" y="4511332"/>
                </a:lnTo>
                <a:lnTo>
                  <a:pt x="0" y="4511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8845">
            <a:off x="15437806" y="2096715"/>
            <a:ext cx="5108668" cy="4114800"/>
          </a:xfrm>
          <a:custGeom>
            <a:avLst/>
            <a:gdLst/>
            <a:ahLst/>
            <a:cxnLst/>
            <a:rect r="r" b="b" t="t" l="l"/>
            <a:pathLst>
              <a:path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33484">
            <a:off x="6331232" y="-673699"/>
            <a:ext cx="2658742" cy="2924616"/>
          </a:xfrm>
          <a:custGeom>
            <a:avLst/>
            <a:gdLst/>
            <a:ahLst/>
            <a:cxnLst/>
            <a:rect r="r" b="b" t="t" l="l"/>
            <a:pathLst>
              <a:path h="2924616" w="2658742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DAHBfG0mqd0</dc:identifier>
  <dcterms:modified xsi:type="dcterms:W3CDTF">2011-08-01T06:04:30Z</dcterms:modified>
  <cp:revision>1</cp:revision>
  <dc:title>Blue Playful Electric Power Engineering Group Project Presentation</dc:title>
</cp:coreProperties>
</file>